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158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4.png"/><Relationship Id="rId4" Type="http://schemas.openxmlformats.org/officeDocument/2006/relationships/hyperlink" Target="https://drive.google.com/file/d/1v3Sf6OH-2rb4PGVOPSRXX-NOvx2xvAg7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1397675"/>
            <a:ext cx="1110972" cy="9133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50437" y="2681288"/>
            <a:ext cx="7415927" cy="1064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0"/>
              </a:lnSpc>
              <a:buNone/>
            </a:pPr>
            <a:r>
              <a:rPr lang="en-US" sz="6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IIPC Assistant</a:t>
            </a:r>
            <a:endParaRPr lang="en-US" sz="6700" dirty="0"/>
          </a:p>
        </p:txBody>
      </p:sp>
      <p:sp>
        <p:nvSpPr>
          <p:cNvPr id="5" name="Text 1"/>
          <p:cNvSpPr/>
          <p:nvPr/>
        </p:nvSpPr>
        <p:spPr>
          <a:xfrm>
            <a:off x="6350437" y="4116229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Title:</a:t>
            </a: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IIPC Assistant: An AI-Powered Web Archiving Platform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350437" y="459759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Name:</a:t>
            </a: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Youssef Wael Nabil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350437" y="507896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ID:</a:t>
            </a: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21100877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350437" y="5560338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Department:</a:t>
            </a: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Artificial Intelligence, Faculty of Computer Science &amp; Engineering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350437" y="6436757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University:</a:t>
            </a: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 Alamein International University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1096923"/>
            <a:ext cx="1110972" cy="913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380536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Agenda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4037" y="336792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384929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433066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RAG? (Architectural Decision)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4037" y="481203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4037" y="529340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Journey: Milestones 1 &amp; 2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4037" y="5774769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4037" y="6256139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Future Work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64037" y="6737509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Application (Demo)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69" y="553403"/>
            <a:ext cx="903208" cy="7424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2469" y="1596866"/>
            <a:ext cx="4014430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</a:t>
            </a:r>
            <a:endParaRPr lang="en-US" sz="3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3903" y="2399705"/>
            <a:ext cx="9322475" cy="52763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85262" y="3422900"/>
            <a:ext cx="3269070" cy="106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Valuable IIPC resources (conference posters, presentations) are hard to access and search.</a:t>
            </a:r>
            <a:endParaRPr lang="en-US" sz="1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669" y="3422308"/>
            <a:ext cx="284267" cy="284267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588" y="4464620"/>
            <a:ext cx="284267" cy="284267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875727" y="4465212"/>
            <a:ext cx="3269070" cy="53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search lacks semantic understanding.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2875727" y="4731712"/>
            <a:ext cx="2537674" cy="25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8485262" y="5517000"/>
            <a:ext cx="3269070" cy="79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Extracted text from PDFs/Video is unstructured and noisy (OCR errors, fragmented slides).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4669" y="5506932"/>
            <a:ext cx="284267" cy="2842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23" y="560546"/>
            <a:ext cx="917258" cy="7540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423" y="1620322"/>
            <a:ext cx="4076938" cy="50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13423" y="2435662"/>
            <a:ext cx="13203555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text extracted from conference presentation slides: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184" y="2991088"/>
            <a:ext cx="8255913" cy="46796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40" y="582692"/>
            <a:ext cx="953572" cy="7839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1640" y="1684377"/>
            <a:ext cx="4238149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Aim &amp; Objectives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41640" y="2531983"/>
            <a:ext cx="1314711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Aim: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build an AI-powered platform for natural-language querying of IIPC materials.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810" y="3109436"/>
            <a:ext cx="9288661" cy="4541401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0397" y="5526639"/>
            <a:ext cx="290000" cy="290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890725" y="3468257"/>
            <a:ext cx="2004339" cy="258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Knowledge Base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2890725" y="3799685"/>
            <a:ext cx="2004339" cy="412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Searchable repository of 587+ documents</a:t>
            </a:r>
            <a:endParaRPr lang="en-US" sz="1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497" y="5526639"/>
            <a:ext cx="290000" cy="290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27438" y="3468257"/>
            <a:ext cx="2004339" cy="258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 Search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9727438" y="3799685"/>
            <a:ext cx="2004339" cy="6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embeddings for relevance-ranked retrieval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8596" y="5526639"/>
            <a:ext cx="290000" cy="290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90725" y="5857350"/>
            <a:ext cx="2004339" cy="25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ChatBot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2890725" y="6188779"/>
            <a:ext cx="2004339" cy="412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assistant with verifiable sources</a:t>
            </a:r>
            <a:endParaRPr lang="en-US" sz="10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6871" y="5526639"/>
            <a:ext cx="289999" cy="2900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718120" y="5857350"/>
            <a:ext cx="2004339" cy="25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Modern UI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9718120" y="6188779"/>
            <a:ext cx="2004339" cy="6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web interface for seamless access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11" y="607695"/>
            <a:ext cx="994291" cy="8173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311" y="1756410"/>
            <a:ext cx="4419481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Available data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773311" y="2839045"/>
            <a:ext cx="6272332" cy="70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Volume: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587 IIPC documents harvested via OAI-PMH from UNT Digital Library.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73311" y="3623310"/>
            <a:ext cx="6272332" cy="70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Types: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Conference posters, presentation slides, and video transcripts.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3311" y="4407575"/>
            <a:ext cx="6272332" cy="70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extracted text was noisy and poorly structured.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3311" y="5191839"/>
            <a:ext cx="6272332" cy="70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Problems: 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errors and formatting artifacts from PDFs.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92378" y="2839045"/>
            <a:ext cx="6272332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IIPC_materials extracted: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92378" y="3391376"/>
            <a:ext cx="6272332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text field for the material’s title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92378" y="3822144"/>
            <a:ext cx="6272332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text field for the author or contributor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92378" y="4252913"/>
            <a:ext cx="6272332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date of the material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592378" y="4683681"/>
            <a:ext cx="6272332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detailed text description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592378" y="5114449"/>
            <a:ext cx="6272332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topic or keywords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592378" y="5545217"/>
            <a:ext cx="6272332" cy="70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item_type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type of item (e.g., paper, presentation, video)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592378" y="6329482"/>
            <a:ext cx="6272332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ark_url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link to the material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592378" y="6760250"/>
            <a:ext cx="6272332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source_url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link to the item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592378" y="7191018"/>
            <a:ext cx="6272332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extracted text or content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04" y="532448"/>
            <a:ext cx="871299" cy="716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7704" y="1660088"/>
            <a:ext cx="3872746" cy="484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RAG?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77704" y="2337792"/>
            <a:ext cx="6401276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Dataset is unstructured and lacks QA pairs for fine-tuning.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77704" y="2821662"/>
            <a:ext cx="6401276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Retrieval-Augmented Generation (RAG)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77704" y="3199090"/>
            <a:ext cx="6401276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Advantages: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77704" y="3576518"/>
            <a:ext cx="6401276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Scalable: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 new content without retraining.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7704" y="3953947"/>
            <a:ext cx="6401276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Transparent: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answer is based on grounded sources.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777" y="1684258"/>
            <a:ext cx="3377803" cy="57952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71" y="563642"/>
            <a:ext cx="922496" cy="7583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471" y="1629370"/>
            <a:ext cx="4114800" cy="512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553" y="2449354"/>
            <a:ext cx="9589294" cy="52185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947380"/>
            <a:ext cx="1110972" cy="913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230993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Milestone 1: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4037" y="3218378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Accomplishment 1: Data Harvesting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389108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collection of </a:t>
            </a:r>
            <a:r>
              <a:rPr lang="en-US" sz="1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587 documents</a:t>
            </a: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OAI-PMH.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437245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Preserved full metadata (title, creator, date, ARK URL).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4037" y="5045154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Accomplishment 2: Tech Stack Selection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4037" y="5717858"/>
            <a:ext cx="12902327" cy="40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Embeddings: </a:t>
            </a:r>
            <a:r>
              <a:rPr lang="en-US" sz="1900" dirty="0">
                <a:solidFill>
                  <a:srgbClr val="272525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BAAI/bge-base-en-v1.5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4037" y="6206847"/>
            <a:ext cx="12902327" cy="40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LLM: </a:t>
            </a:r>
            <a:r>
              <a:rPr lang="en-US" sz="1900" dirty="0">
                <a:solidFill>
                  <a:srgbClr val="272525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tiiuae/falcon-7b-instruct</a:t>
            </a: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(Initial)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4037" y="688717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Identified:</a:t>
            </a: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Raw text quality was poor, limiting answer accuracy.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12" y="493395"/>
            <a:ext cx="804743" cy="6615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12" y="1423154"/>
            <a:ext cx="4250769" cy="447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after Milestone 1</a:t>
            </a:r>
            <a:endParaRPr lang="en-US" sz="2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369" y="2138482"/>
            <a:ext cx="10253543" cy="55977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15" y="662583"/>
            <a:ext cx="1081921" cy="8893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415" y="1912620"/>
            <a:ext cx="4808577" cy="601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Milestone 2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841415" y="2874288"/>
            <a:ext cx="12947571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Accomplishment 1: AI-Powered Text Enhancement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41415" y="3529251"/>
            <a:ext cx="12947571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</a:t>
            </a:r>
            <a:r>
              <a:rPr lang="en-US" sz="1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 2.5 Flash-Lite</a:t>
            </a: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restructure all documents.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41415" y="3997881"/>
            <a:ext cx="12947571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Transformed messy text into coherent narratives.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41415" y="4466511"/>
            <a:ext cx="12947571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</a:t>
            </a: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high-quality, semantically rich dataset.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41415" y="5121473"/>
            <a:ext cx="12947571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Accomplishment 2: Functional Prototype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41415" y="5776436"/>
            <a:ext cx="12947571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 Streamlit app for testing.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41415" y="6245066"/>
            <a:ext cx="12947571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build web interface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41415" y="6713696"/>
            <a:ext cx="12947571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Upgraded LLM to </a:t>
            </a:r>
            <a:r>
              <a:rPr lang="en-US" sz="1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</a:t>
            </a: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generation.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41415" y="7182326"/>
            <a:ext cx="12947571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Challenge:</a:t>
            </a: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Retrieval needed optimization for broader context.</a:t>
            </a: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" y="492443"/>
            <a:ext cx="805815" cy="6624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45" y="1423511"/>
            <a:ext cx="358140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Text Enhancement</a:t>
            </a:r>
            <a:endParaRPr lang="en-US" sz="2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818" y="2139791"/>
            <a:ext cx="10296763" cy="56004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95" y="357783"/>
            <a:ext cx="585430" cy="481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5295" y="1034177"/>
            <a:ext cx="3143488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after Milestone 2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918" y="1554599"/>
            <a:ext cx="6806565" cy="330160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85" y="4929783"/>
            <a:ext cx="6701195" cy="2000131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3910" y="4856202"/>
            <a:ext cx="6701195" cy="3019663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481530" y="8314849"/>
            <a:ext cx="6701195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chatBot response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03" y="656034"/>
            <a:ext cx="1060847" cy="8721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5103" y="1881783"/>
            <a:ext cx="9146858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Optimized Retrieval Method and Prompt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825103" y="2824758"/>
            <a:ext cx="12980194" cy="3086814"/>
          </a:xfrm>
          <a:prstGeom prst="roundRect">
            <a:avLst>
              <a:gd name="adj" fmla="val 320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32723" y="2832378"/>
            <a:ext cx="12964954" cy="6753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68467" y="2981444"/>
            <a:ext cx="6007179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 Method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54754" y="2981444"/>
            <a:ext cx="6007179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Method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32723" y="3507700"/>
            <a:ext cx="12964954" cy="23962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68467" y="3656767"/>
            <a:ext cx="6007179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top-k chunks by score. 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068467" y="4104680"/>
            <a:ext cx="6007179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 Gets details but misses the big picture."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554754" y="3656767"/>
            <a:ext cx="6007179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Font typeface="+mj-lt"/>
              <a:buAutoNum type="arabicPeriod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top 30 chunks. 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554754" y="4104680"/>
            <a:ext cx="6007179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Font typeface="+mj-lt"/>
              <a:buAutoNum type="arabicPeriod" startAt="2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by Document ID. 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554754" y="4552593"/>
            <a:ext cx="6007179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Font typeface="+mj-lt"/>
              <a:buAutoNum type="arabicPeriod" startAt="3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documents by their best chunk. 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7554754" y="5000506"/>
            <a:ext cx="6007179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Font typeface="+mj-lt"/>
              <a:buAutoNum type="arabicPeriod" startAt="4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top 3 documents. 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554754" y="5448419"/>
            <a:ext cx="6007179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Font typeface="+mj-lt"/>
              <a:buAutoNum type="arabicPeriod" startAt="5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best chunks from them.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825103" y="6176724"/>
            <a:ext cx="1298019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Prompt: </a:t>
            </a: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Summarize IIPC conference content using correct web archiving terms and always include where it came from (title, author, date, ARK URL)."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25103" y="7196257"/>
            <a:ext cx="12980194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Conclusion:</a:t>
            </a: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Ensures answers are comprehensive and document-aware.</a:t>
            </a: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59" y="429458"/>
            <a:ext cx="702231" cy="5772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6259" y="1240750"/>
            <a:ext cx="3946803" cy="39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after Optimization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033" y="1864995"/>
            <a:ext cx="6104215" cy="59350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37" y="1136928"/>
            <a:ext cx="1110972" cy="9133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4037" y="2420541"/>
            <a:ext cx="624792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Work</a:t>
            </a:r>
            <a:endParaRPr lang="en-US" sz="3850" dirty="0"/>
          </a:p>
        </p:txBody>
      </p:sp>
      <p:sp>
        <p:nvSpPr>
          <p:cNvPr id="5" name="Text 1"/>
          <p:cNvSpPr/>
          <p:nvPr/>
        </p:nvSpPr>
        <p:spPr>
          <a:xfrm>
            <a:off x="864037" y="3407926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Conclusion:</a:t>
            </a: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Successfully delivered an AI platform that significantly enhances access to IIPC's specialized knowledge.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64037" y="4475678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Innovations:</a:t>
            </a: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Text Enhancement, Document-Grouped Retrieval, Domain-Specific RAG.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64037" y="5543431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Work: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64037" y="6216134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document collection.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64037" y="6697504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user accounts and query history.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345174"/>
            <a:ext cx="1110972" cy="913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3628787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</a:t>
            </a:r>
            <a:endParaRPr lang="en-US" sz="3850" dirty="0"/>
          </a:p>
        </p:txBody>
      </p:sp>
      <p:pic>
        <p:nvPicPr>
          <p:cNvPr id="4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37" y="4616172"/>
            <a:ext cx="12902327" cy="12682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638</Words>
  <Application>Microsoft Office PowerPoint</Application>
  <PresentationFormat>Custom</PresentationFormat>
  <Paragraphs>112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Consolas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Youssef Wael</cp:lastModifiedBy>
  <cp:revision>2</cp:revision>
  <dcterms:created xsi:type="dcterms:W3CDTF">2025-09-02T23:38:50Z</dcterms:created>
  <dcterms:modified xsi:type="dcterms:W3CDTF">2025-09-02T23:42:30Z</dcterms:modified>
</cp:coreProperties>
</file>